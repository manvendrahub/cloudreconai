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4461df36-bda9-5b72-1d89-673de4bf09f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LISS-IV is ISRO's 5.8 m multispectral camera. Clouds ruin a large share of scenes, especially in the monsoon. We detect cloud and shadow, reconstruct the hidden ground with a GAN, and keep every clear pixel untouched.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LISS-IV characteristics from the data-product description. Because only three bands exist, we rely on spatial context and texture, not spectral rules like Fmask.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Classical methods each fail in a known way. Generative models fix that but risk hallucination, which is why our design preserves clear pixels and labels generated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steps. Step 4 is the key safety idea: the output equals the observed image everywhere outside the mask.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loss terms are combined with weights tuned on validation. The adversarial weight is deliberately small so sharpness never overrides fidelity. SAM keeps the green-red-NIR relationship plausible, which matters for NDVI.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Separating the GPU server isolates the Python deep-learning runtime from the web backend and allows independent scaling. Uploads are validated, originals are never overwritten, and every job records a manifest.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table with our own test-run numbers only. Do not quote figures from other papers or sensors. Report mean and standard deviation across scenes, not only the best case, and show failure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honest limitation: thick-cloud regions admit many plausible solutions.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3152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7955280" y="274320"/>
            <a:ext cx="777240" cy="77724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pic>
        <p:nvPicPr>
          <p:cNvPr id="4" name="Image 0" descr="Arya Colleg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5864" y="393192"/>
            <a:ext cx="576072" cy="5212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Removal from LISS-IV using GenAI  |  Arya College of Engineering &amp; I.T., Jaipur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3152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7955280" y="274320"/>
            <a:ext cx="777240" cy="7772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4" name="Image 0" descr="Arya Colleg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5864" y="393192"/>
            <a:ext cx="576072" cy="5212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Removal from LISS-IV using GenAI  |  Arya College of Engineering &amp; I.T., Jaipur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B.TECH CSE  |  FOUNDATION COURSE (TINKERING &amp; ELEMENTS OF DESIGN)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5852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Removal from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LISS-IV Satellite Imagery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Generative AI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Detecting clouds and shadows, then reconstructing the ground beneath them, while never touching a valid observed pixel.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160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Student name1, Student name2, Student name3, Student name4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Department of Computer Science &amp; Engineering  |  Session 2025-26</a:t>
            </a:r>
            <a:endParaRPr lang="en-US" sz="1200" dirty="0"/>
          </a:p>
        </p:txBody>
      </p:sp>
      <p:sp>
        <p:nvSpPr>
          <p:cNvPr id="7" name="Hero ring"/>
          <p:cNvSpPr/>
          <p:nvPr/>
        </p:nvSpPr>
        <p:spPr>
          <a:xfrm>
            <a:off x="6492240" y="1828800"/>
            <a:ext cx="2194560" cy="2194560"/>
          </a:xfrm>
          <a:prstGeom prst="ellipse">
            <a:avLst/>
          </a:prstGeom>
          <a:solidFill>
            <a:schemeClr val="bg1">
              <a:alpha val="1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8" name="Image 0" descr="Satellit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2331720"/>
            <a:ext cx="1188720" cy="1188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clouds are a big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Optical imagery drives land-cover mapping, crop monitoring and disaster assessment, but cloud blocks or attenuates the signal and shadow darkens the ground beside it.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Over India the southwest monsoon makes this worst, exactly when crops and forests need watching.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LISS-IV is sharp but spectrally thin: no blue, SWIR, cirrus or thermal band, so standard cloud tests do not apply.</a:t>
            </a:r>
            <a:endParaRPr lang="en-US" sz="1500" dirty="0"/>
          </a:p>
        </p:txBody>
      </p:sp>
      <p:sp>
        <p:nvSpPr>
          <p:cNvPr id="4" name="Stat card 1"/>
          <p:cNvSpPr/>
          <p:nvPr/>
        </p:nvSpPr>
        <p:spPr>
          <a:xfrm>
            <a:off x="4754880" y="1280160"/>
            <a:ext cx="18745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92040" y="1508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 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892040" y="21762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spatial resolution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6766560" y="1280160"/>
            <a:ext cx="18745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03720" y="1508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21762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bands: green, red, NIR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4754880" y="2880360"/>
            <a:ext cx="18745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31089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10-bit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37764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radiometric depth</a:t>
            </a:r>
            <a:endParaRPr lang="en-US" sz="1400" dirty="0"/>
          </a:p>
        </p:txBody>
      </p:sp>
      <p:sp>
        <p:nvSpPr>
          <p:cNvPr id="13" name="Stat card 4"/>
          <p:cNvSpPr/>
          <p:nvPr/>
        </p:nvSpPr>
        <p:spPr>
          <a:xfrm>
            <a:off x="6766560" y="2880360"/>
            <a:ext cx="18745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31089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23-24 km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37764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multispectral swath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old methods fall short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WHAT FAILS TODAY</a:t>
            </a:r>
            <a:endParaRPr lang="en-US" sz="1200" dirty="0"/>
          </a:p>
        </p:txBody>
      </p:sp>
      <p:sp>
        <p:nvSpPr>
          <p:cNvPr id="4" name="Limit card 1"/>
          <p:cNvSpPr/>
          <p:nvPr/>
        </p:nvSpPr>
        <p:spPr>
          <a:xfrm>
            <a:off x="457200" y="160020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imit icon 1 bg"/>
          <p:cNvSpPr/>
          <p:nvPr/>
        </p:nvSpPr>
        <p:spPr>
          <a:xfrm>
            <a:off x="594360" y="17830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Limit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09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Interpolation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Blurs large gaps, cannot invent missing structure</a:t>
            </a:r>
            <a:endParaRPr lang="en-US" sz="1400" dirty="0"/>
          </a:p>
        </p:txBody>
      </p:sp>
      <p:sp>
        <p:nvSpPr>
          <p:cNvPr id="9" name="Limit card 2"/>
          <p:cNvSpPr/>
          <p:nvPr/>
        </p:nvSpPr>
        <p:spPr>
          <a:xfrm>
            <a:off x="457200" y="2624328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imit icon 2 bg"/>
          <p:cNvSpPr/>
          <p:nvPr/>
        </p:nvSpPr>
        <p:spPr>
          <a:xfrm>
            <a:off x="594360" y="280720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Limit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4436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7340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Temporal filling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30358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Needs a near-date clear scene and no ground change</a:t>
            </a:r>
            <a:endParaRPr lang="en-US" sz="1400" dirty="0"/>
          </a:p>
        </p:txBody>
      </p:sp>
      <p:sp>
        <p:nvSpPr>
          <p:cNvPr id="14" name="Limit card 3"/>
          <p:cNvSpPr/>
          <p:nvPr/>
        </p:nvSpPr>
        <p:spPr>
          <a:xfrm>
            <a:off x="457200" y="3648456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Limit icon 3 bg"/>
          <p:cNvSpPr/>
          <p:nvPr/>
        </p:nvSpPr>
        <p:spPr>
          <a:xfrm>
            <a:off x="594360" y="3831336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2" descr="Limit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6849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37581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Thresholding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325880" y="40599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Mistakes bright built-up land for cloud, water for shadow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OUR OBJECTIVES</a:t>
            </a:r>
            <a:endParaRPr lang="en-US" sz="1200" dirty="0"/>
          </a:p>
        </p:txBody>
      </p:sp>
      <p:sp>
        <p:nvSpPr>
          <p:cNvPr id="20" name="Objective icon 1 bg"/>
          <p:cNvSpPr/>
          <p:nvPr/>
        </p:nvSpPr>
        <p:spPr>
          <a:xfrm>
            <a:off x="4846320" y="164592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3" descr="Objective icon 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86400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Detect cloud and shadow with a U-Net</a:t>
            </a:r>
            <a:endParaRPr lang="en-US" sz="1500" dirty="0"/>
          </a:p>
        </p:txBody>
      </p:sp>
      <p:sp>
        <p:nvSpPr>
          <p:cNvPr id="23" name="Objective icon 2 bg"/>
          <p:cNvSpPr/>
          <p:nvPr/>
        </p:nvSpPr>
        <p:spPr>
          <a:xfrm>
            <a:off x="4846320" y="24231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Image 4" descr="Objective icon 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2548890"/>
            <a:ext cx="251460" cy="2514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86400" y="23774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Reconstruct the ground by mask-conditioned inpainting</a:t>
            </a:r>
            <a:endParaRPr lang="en-US" sz="1500" dirty="0"/>
          </a:p>
        </p:txBody>
      </p:sp>
      <p:sp>
        <p:nvSpPr>
          <p:cNvPr id="26" name="Objective icon 3 bg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7" name="Image 5" descr="Objective icon 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50" y="3326130"/>
            <a:ext cx="251460" cy="25146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486400" y="31546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Keep valid pixels and band relationships intact</a:t>
            </a:r>
            <a:endParaRPr lang="en-US" sz="1500" dirty="0"/>
          </a:p>
        </p:txBody>
      </p:sp>
      <p:sp>
        <p:nvSpPr>
          <p:cNvPr id="29" name="Objective icon 4 bg"/>
          <p:cNvSpPr/>
          <p:nvPr/>
        </p:nvSpPr>
        <p:spPr>
          <a:xfrm>
            <a:off x="4846320" y="39776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Image 6" descr="Objective icon 4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2050" y="4103370"/>
            <a:ext cx="251460" cy="25146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486400" y="39319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Export auditable GeoTIFF with a processing manifest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Our approach: a five-step pipeline</a:t>
            </a:r>
            <a:endParaRPr lang="en-US" sz="3200" dirty="0"/>
          </a:p>
        </p:txBody>
      </p:sp>
      <p:sp>
        <p:nvSpPr>
          <p:cNvPr id="3" name="Step row 1"/>
          <p:cNvSpPr/>
          <p:nvPr/>
        </p:nvSpPr>
        <p:spPr>
          <a:xfrm>
            <a:off x="457200" y="123444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number 1"/>
          <p:cNvSpPr/>
          <p:nvPr/>
        </p:nvSpPr>
        <p:spPr>
          <a:xfrm>
            <a:off x="566928" y="132588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34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Preprocess and tile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2344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Radiometric and geometric correction; 256×256 tiles, 32-px overlap</a:t>
            </a:r>
            <a:endParaRPr lang="en-US" sz="1400" dirty="0"/>
          </a:p>
        </p:txBody>
      </p:sp>
      <p:sp>
        <p:nvSpPr>
          <p:cNvPr id="8" name="Step row 2"/>
          <p:cNvSpPr/>
          <p:nvPr/>
        </p:nvSpPr>
        <p:spPr>
          <a:xfrm>
            <a:off x="457200" y="192024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number 2"/>
          <p:cNvSpPr/>
          <p:nvPr/>
        </p:nvSpPr>
        <p:spPr>
          <a:xfrm>
            <a:off x="566928" y="201168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20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Detect cloud and shadow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19202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U-Net predicts the mask M, trained with BCE + Dice loss</a:t>
            </a:r>
            <a:endParaRPr lang="en-US" sz="1400" dirty="0"/>
          </a:p>
        </p:txBody>
      </p:sp>
      <p:sp>
        <p:nvSpPr>
          <p:cNvPr id="13" name="Step row 3"/>
          <p:cNvSpPr/>
          <p:nvPr/>
        </p:nvSpPr>
        <p:spPr>
          <a:xfrm>
            <a:off x="457200" y="260604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 number 3"/>
          <p:cNvSpPr/>
          <p:nvPr/>
        </p:nvSpPr>
        <p:spPr>
          <a:xfrm>
            <a:off x="566928" y="269748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606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Reconstruct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26060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Gated-convolution generator fills the masked region from context</a:t>
            </a:r>
            <a:endParaRPr lang="en-US" sz="1400" dirty="0"/>
          </a:p>
        </p:txBody>
      </p:sp>
      <p:sp>
        <p:nvSpPr>
          <p:cNvPr id="18" name="Step row 4"/>
          <p:cNvSpPr/>
          <p:nvPr/>
        </p:nvSpPr>
        <p:spPr>
          <a:xfrm>
            <a:off x="457200" y="329184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ep number 4"/>
          <p:cNvSpPr/>
          <p:nvPr/>
        </p:nvSpPr>
        <p:spPr>
          <a:xfrm>
            <a:off x="566928" y="33832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291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Composite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32918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Valid pixels kept exactly; generated pixels only inside the mask</a:t>
            </a:r>
            <a:endParaRPr lang="en-US" sz="1400" dirty="0"/>
          </a:p>
        </p:txBody>
      </p:sp>
      <p:sp>
        <p:nvSpPr>
          <p:cNvPr id="23" name="Step row 5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tep number 5"/>
          <p:cNvSpPr/>
          <p:nvPr/>
        </p:nvSpPr>
        <p:spPr>
          <a:xfrm>
            <a:off x="566928" y="406908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977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Evaluate and export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566160" y="39776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PSNR, SSIM, RMSE, SAM; GeoTIFF plus manifest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model and how it learns</a:t>
            </a:r>
            <a:endParaRPr lang="en-US" sz="3200" dirty="0"/>
          </a:p>
        </p:txBody>
      </p:sp>
      <p:sp>
        <p:nvSpPr>
          <p:cNvPr id="3" name="Generator card"/>
          <p:cNvSpPr/>
          <p:nvPr/>
        </p:nvSpPr>
        <p:spPr>
          <a:xfrm>
            <a:off x="457200" y="1234440"/>
            <a:ext cx="3840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Generator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U-Net with gated convolutions and a dilated residual bottleneck</a:t>
            </a:r>
            <a:endParaRPr lang="en-US" sz="1400" dirty="0"/>
          </a:p>
        </p:txBody>
      </p:sp>
      <p:sp>
        <p:nvSpPr>
          <p:cNvPr id="6" name="Discriminator card"/>
          <p:cNvSpPr/>
          <p:nvPr/>
        </p:nvSpPr>
        <p:spPr>
          <a:xfrm>
            <a:off x="457200" y="2395728"/>
            <a:ext cx="3840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87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Discriminator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072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Mask-conditioned PatchGAN with a least-squares (LSGAN) loss</a:t>
            </a:r>
            <a:endParaRPr lang="en-US" sz="1400" dirty="0"/>
          </a:p>
        </p:txBody>
      </p:sp>
      <p:sp>
        <p:nvSpPr>
          <p:cNvPr id="9" name="Formula card"/>
          <p:cNvSpPr/>
          <p:nvPr/>
        </p:nvSpPr>
        <p:spPr>
          <a:xfrm>
            <a:off x="457200" y="3557016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6301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(1 − M)·X + M·Ŷ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14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Observed pixels stay; estimates fill the mask</a:t>
            </a:r>
            <a:endParaRPr lang="en-US" sz="1400" dirty="0"/>
          </a:p>
        </p:txBody>
      </p:sp>
      <p:graphicFrame>
        <p:nvGraphicFramePr>
          <p:cNvPr id="6" name="Los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34440"/>
          <a:ext cx="41148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78308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Loss term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Acts 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6FB2"/>
                          </a:solidFill>
                        </a:rPr>
                        <a:t>L1 (pix)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Reconstruction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Masked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6FB2"/>
                          </a:solidFill>
                        </a:rPr>
                        <a:t>L1 (valid)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Preserve observed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Unmasked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6FB2"/>
                          </a:solidFill>
                        </a:rPr>
                        <a:t>SSIM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Local structure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Whole tile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6FB2"/>
                          </a:solidFill>
                        </a:rPr>
                        <a:t>VGG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Texture, semantics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Features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6FB2"/>
                          </a:solidFill>
                        </a:rPr>
                        <a:t>SAM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Band consistency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Masked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6FB2"/>
                          </a:solidFill>
                        </a:rPr>
                        <a:t>LSGAN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Realistic texture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Patches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Tier 1"/>
          <p:cNvSpPr/>
          <p:nvPr/>
        </p:nvSpPr>
        <p:spPr>
          <a:xfrm>
            <a:off x="457200" y="1280160"/>
            <a:ext cx="23774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ier icon 1 bg"/>
          <p:cNvSpPr/>
          <p:nvPr/>
        </p:nvSpPr>
        <p:spPr>
          <a:xfrm>
            <a:off x="594360" y="138988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Tier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504188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3898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Client browser</a:t>
            </a:r>
            <a:endParaRPr lang="en-US" sz="1500" dirty="0"/>
          </a:p>
        </p:txBody>
      </p:sp>
      <p:sp>
        <p:nvSpPr>
          <p:cNvPr id="7" name="Component Web UI"/>
          <p:cNvSpPr/>
          <p:nvPr/>
        </p:nvSpPr>
        <p:spPr>
          <a:xfrm>
            <a:off x="640080" y="2011680"/>
            <a:ext cx="2011680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Web UI</a:t>
            </a:r>
            <a:endParaRPr lang="en-US" sz="1400" dirty="0"/>
          </a:p>
        </p:txBody>
      </p:sp>
      <p:sp>
        <p:nvSpPr>
          <p:cNvPr id="9" name="Component Map viewer"/>
          <p:cNvSpPr/>
          <p:nvPr/>
        </p:nvSpPr>
        <p:spPr>
          <a:xfrm>
            <a:off x="640080" y="2514600"/>
            <a:ext cx="2011680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514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Map viewer</a:t>
            </a:r>
            <a:endParaRPr lang="en-US" sz="1400" dirty="0"/>
          </a:p>
        </p:txBody>
      </p:sp>
      <p:sp>
        <p:nvSpPr>
          <p:cNvPr id="11" name="Tier 2"/>
          <p:cNvSpPr/>
          <p:nvPr/>
        </p:nvSpPr>
        <p:spPr>
          <a:xfrm>
            <a:off x="3383280" y="1280160"/>
            <a:ext cx="23774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ier icon 2 bg"/>
          <p:cNvSpPr/>
          <p:nvPr/>
        </p:nvSpPr>
        <p:spPr>
          <a:xfrm>
            <a:off x="3520440" y="138988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1" descr="Tier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504188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69080" y="13898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Application server</a:t>
            </a:r>
            <a:endParaRPr lang="en-US" sz="1500" dirty="0"/>
          </a:p>
        </p:txBody>
      </p:sp>
      <p:sp>
        <p:nvSpPr>
          <p:cNvPr id="15" name="Component REST API"/>
          <p:cNvSpPr/>
          <p:nvPr/>
        </p:nvSpPr>
        <p:spPr>
          <a:xfrm>
            <a:off x="3566160" y="2011680"/>
            <a:ext cx="2011680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56616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REST API</a:t>
            </a:r>
            <a:endParaRPr lang="en-US" sz="1400" dirty="0"/>
          </a:p>
        </p:txBody>
      </p:sp>
      <p:sp>
        <p:nvSpPr>
          <p:cNvPr id="17" name="Component Job queue"/>
          <p:cNvSpPr/>
          <p:nvPr/>
        </p:nvSpPr>
        <p:spPr>
          <a:xfrm>
            <a:off x="3566160" y="2514600"/>
            <a:ext cx="2011680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566160" y="2514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Job queue</a:t>
            </a:r>
            <a:endParaRPr lang="en-US" sz="1400" dirty="0"/>
          </a:p>
        </p:txBody>
      </p:sp>
      <p:sp>
        <p:nvSpPr>
          <p:cNvPr id="19" name="Tier 3"/>
          <p:cNvSpPr/>
          <p:nvPr/>
        </p:nvSpPr>
        <p:spPr>
          <a:xfrm>
            <a:off x="6309360" y="1280160"/>
            <a:ext cx="23774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ier icon 3 bg"/>
          <p:cNvSpPr/>
          <p:nvPr/>
        </p:nvSpPr>
        <p:spPr>
          <a:xfrm>
            <a:off x="6446520" y="138988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2" descr="Tier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504188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995160" y="13898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GPU server</a:t>
            </a:r>
            <a:endParaRPr lang="en-US" sz="1500" dirty="0"/>
          </a:p>
        </p:txBody>
      </p:sp>
      <p:sp>
        <p:nvSpPr>
          <p:cNvPr id="23" name="Component Cloud detector"/>
          <p:cNvSpPr/>
          <p:nvPr/>
        </p:nvSpPr>
        <p:spPr>
          <a:xfrm>
            <a:off x="6492240" y="2011680"/>
            <a:ext cx="2011680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9224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Cloud detector</a:t>
            </a:r>
            <a:endParaRPr lang="en-US" sz="1400" dirty="0"/>
          </a:p>
        </p:txBody>
      </p:sp>
      <p:sp>
        <p:nvSpPr>
          <p:cNvPr id="25" name="Component GAN inpainter"/>
          <p:cNvSpPr/>
          <p:nvPr/>
        </p:nvSpPr>
        <p:spPr>
          <a:xfrm>
            <a:off x="6492240" y="2514600"/>
            <a:ext cx="2011680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492240" y="2514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GAN inpainter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2834640" y="1920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HTTPS</a:t>
            </a:r>
            <a:endParaRPr lang="en-US" sz="1100" dirty="0"/>
          </a:p>
        </p:txBody>
      </p:sp>
      <p:sp>
        <p:nvSpPr>
          <p:cNvPr id="28" name="HTTPS arrow"/>
          <p:cNvSpPr/>
          <p:nvPr/>
        </p:nvSpPr>
        <p:spPr>
          <a:xfrm>
            <a:off x="2880360" y="2240280"/>
            <a:ext cx="45720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Text 24"/>
          <p:cNvSpPr txBox="1"/>
          <p:nvPr/>
        </p:nvSpPr>
        <p:spPr>
          <a:xfrm>
            <a:off x="5760720" y="1920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gRPC</a:t>
            </a:r>
            <a:endParaRPr lang="en-US" sz="1100" dirty="0"/>
          </a:p>
        </p:txBody>
      </p:sp>
      <p:sp>
        <p:nvSpPr>
          <p:cNvPr id="30" name="gRPC arrow"/>
          <p:cNvSpPr/>
          <p:nvPr/>
        </p:nvSpPr>
        <p:spPr>
          <a:xfrm>
            <a:off x="5806440" y="2240280"/>
            <a:ext cx="45720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Storage band"/>
          <p:cNvSpPr/>
          <p:nvPr/>
        </p:nvSpPr>
        <p:spPr>
          <a:xfrm>
            <a:off x="457200" y="3429000"/>
            <a:ext cx="822960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8580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Storage</a:t>
            </a:r>
            <a:endParaRPr lang="en-US" sz="1500" dirty="0"/>
          </a:p>
        </p:txBody>
      </p:sp>
      <p:sp>
        <p:nvSpPr>
          <p:cNvPr id="33" name="Store Scene store"/>
          <p:cNvSpPr/>
          <p:nvPr/>
        </p:nvSpPr>
        <p:spPr>
          <a:xfrm>
            <a:off x="685800" y="3886200"/>
            <a:ext cx="2377440" cy="4572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8580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Scene store</a:t>
            </a:r>
            <a:endParaRPr lang="en-US" sz="1400" dirty="0"/>
          </a:p>
        </p:txBody>
      </p:sp>
      <p:sp>
        <p:nvSpPr>
          <p:cNvPr id="35" name="Store Model store"/>
          <p:cNvSpPr/>
          <p:nvPr/>
        </p:nvSpPr>
        <p:spPr>
          <a:xfrm>
            <a:off x="3337560" y="3886200"/>
            <a:ext cx="2377440" cy="4572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333756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Model store</a:t>
            </a:r>
            <a:endParaRPr lang="en-US" sz="1400" dirty="0"/>
          </a:p>
        </p:txBody>
      </p:sp>
      <p:sp>
        <p:nvSpPr>
          <p:cNvPr id="37" name="Store Metadata DB"/>
          <p:cNvSpPr/>
          <p:nvPr/>
        </p:nvSpPr>
        <p:spPr>
          <a:xfrm>
            <a:off x="5989320" y="3886200"/>
            <a:ext cx="2377440" cy="4572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598932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Metadata DB</a:t>
            </a:r>
            <a:endParaRPr lang="en-US" sz="1400" dirty="0"/>
          </a:p>
        </p:txBody>
      </p:sp>
      <p:sp>
        <p:nvSpPr>
          <p:cNvPr id="39" name="Text 34"/>
          <p:cNvSpPr txBox="1"/>
          <p:nvPr/>
        </p:nvSpPr>
        <p:spPr>
          <a:xfrm>
            <a:off x="5852160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Async jobs keep the app responsive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we measure success</a:t>
            </a:r>
            <a:endParaRPr lang="en-US" sz="3200" dirty="0"/>
          </a:p>
        </p:txBody>
      </p:sp>
      <p:sp>
        <p:nvSpPr>
          <p:cNvPr id="3" name="Metric card PSNR"/>
          <p:cNvSpPr/>
          <p:nvPr/>
        </p:nvSpPr>
        <p:spPr>
          <a:xfrm>
            <a:off x="457200" y="1234440"/>
            <a:ext cx="3657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PSNR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234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Pixel-level fidelity (dB)</a:t>
            </a:r>
            <a:endParaRPr lang="en-US" sz="1400" dirty="0"/>
          </a:p>
        </p:txBody>
      </p:sp>
      <p:sp>
        <p:nvSpPr>
          <p:cNvPr id="6" name="Metric card SSIM"/>
          <p:cNvSpPr/>
          <p:nvPr/>
        </p:nvSpPr>
        <p:spPr>
          <a:xfrm>
            <a:off x="457200" y="1874520"/>
            <a:ext cx="3657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SSIM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Structure and edges</a:t>
            </a:r>
            <a:endParaRPr lang="en-US" sz="1400" dirty="0"/>
          </a:p>
        </p:txBody>
      </p:sp>
      <p:sp>
        <p:nvSpPr>
          <p:cNvPr id="9" name="Metric card RMSE"/>
          <p:cNvSpPr/>
          <p:nvPr/>
        </p:nvSpPr>
        <p:spPr>
          <a:xfrm>
            <a:off x="457200" y="2514600"/>
            <a:ext cx="3657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514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Per-band error</a:t>
            </a:r>
            <a:endParaRPr lang="en-US" sz="1400" dirty="0"/>
          </a:p>
        </p:txBody>
      </p:sp>
      <p:sp>
        <p:nvSpPr>
          <p:cNvPr id="12" name="Metric card SAM"/>
          <p:cNvSpPr/>
          <p:nvPr/>
        </p:nvSpPr>
        <p:spPr>
          <a:xfrm>
            <a:off x="457200" y="3154680"/>
            <a:ext cx="3657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54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154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Spectral-angle error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40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Masks: precision, recall, F1, IoU. Scene-level split, scored on masked regions and full image.</a:t>
            </a:r>
            <a:endParaRPr lang="en-US" sz="1400" dirty="0"/>
          </a:p>
        </p:txBody>
      </p:sp>
      <p:graphicFrame>
        <p:nvGraphicFramePr>
          <p:cNvPr id="8" name="Baselin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234440"/>
          <a:ext cx="4206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731520"/>
                <a:gridCol w="731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PSNR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SSIM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SAM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Nearest / bilinear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U-Net, L1 only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U-Net + SSIM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</a:rPr>
                        <a:t>U-Net + adversarial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8102E"/>
                          </a:solidFill>
                        </a:rPr>
                        <a:t>Proposed GAN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480560" y="4069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Values to be filled from our measured test run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 and future scope</a:t>
            </a:r>
            <a:endParaRPr lang="en-US" sz="3200" dirty="0"/>
          </a:p>
        </p:txBody>
      </p:sp>
      <p:sp>
        <p:nvSpPr>
          <p:cNvPr id="3" name="Closing card 1"/>
          <p:cNvSpPr/>
          <p:nvPr/>
        </p:nvSpPr>
        <p:spPr>
          <a:xfrm>
            <a:off x="457200" y="128016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losing icon 1 bg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Closing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What we built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Cloud and shadow detection plus mask-conditioned reconstruction for LISS-IV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Valid pixels preserved; generated pixels labelled as estimates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Auditable web service with provenance</a:t>
            </a:r>
            <a:endParaRPr lang="en-US" sz="1400" dirty="0"/>
          </a:p>
        </p:txBody>
      </p:sp>
      <p:sp>
        <p:nvSpPr>
          <p:cNvPr id="8" name="Closing card 2"/>
          <p:cNvSpPr/>
          <p:nvPr/>
        </p:nvSpPr>
        <p:spPr>
          <a:xfrm>
            <a:off x="4663440" y="128016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Closing icon 2 bg"/>
          <p:cNvSpPr/>
          <p:nvPr/>
        </p:nvSpPr>
        <p:spPr>
          <a:xfrm>
            <a:off x="4846320" y="141732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0" name="Image 1" descr="Closing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5316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Where next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201168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Uncertainty maps for low-confidence regions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Multi-temporal and SAR guidance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Other sensors, after validation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Downstream tests: classification, crop and flood monitoring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160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Reconstructed pixels are model estimates, not verified observations.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94360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Thank you  |  Questions?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SS-IV Cloud Removal">
  <a:themeElements>
    <a:clrScheme name="LISS-IV Cloud Removal">
      <a:dk1>
        <a:srgbClr val="0B1F3A"/>
      </a:dk1>
      <a:lt1>
        <a:srgbClr val="FFFFFF"/>
      </a:lt1>
      <a:dk2>
        <a:srgbClr val="14305A"/>
      </a:dk2>
      <a:lt2>
        <a:srgbClr val="EEF2F8"/>
      </a:lt2>
      <a:accent1>
        <a:srgbClr val="F2B134"/>
      </a:accent1>
      <a:accent2>
        <a:srgbClr val="C8102E"/>
      </a:accent2>
      <a:accent3>
        <a:srgbClr val="1F6FB2"/>
      </a:accent3>
      <a:accent4>
        <a:srgbClr val="2A9D8F"/>
      </a:accent4>
      <a:accent5>
        <a:srgbClr val="5B6B85"/>
      </a:accent5>
      <a:accent6>
        <a:srgbClr val="8FB8DE"/>
      </a:accent6>
      <a:hlink>
        <a:srgbClr val="1F6FB2"/>
      </a:hlink>
      <a:folHlink>
        <a:srgbClr val="5B6B85"/>
      </a:folHlink>
    </a:clrScheme>
    <a:fontScheme name="LISS-IV Cloud Remov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Removal from LISS-IV Satellite Imagery using GenAI</dc:title>
  <dc:subject>PptxGenJS Presentation</dc:subject>
  <dc:creator>Arya College of Engineering &amp; I.T., Jaipur</dc:creator>
  <cp:lastModifiedBy>Arya College of Engineering &amp; I.T., Jaipur</cp:lastModifiedBy>
  <cp:revision>1</cp:revision>
  <dcterms:created xsi:type="dcterms:W3CDTF">2026-10-12T10:28:46Z</dcterms:created>
  <dcterms:modified xsi:type="dcterms:W3CDTF">2026-10-12T10:28:46Z</dcterms:modified>
</cp:coreProperties>
</file>